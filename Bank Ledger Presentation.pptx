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6" r:id="rId4"/>
  </p:sldMasterIdLst>
  <p:notesMasterIdLst>
    <p:notesMasterId r:id="rId14"/>
  </p:notesMasterIdLst>
  <p:handoutMasterIdLst>
    <p:handoutMasterId r:id="rId15"/>
  </p:handoutMasterIdLst>
  <p:sldIdLst>
    <p:sldId id="315" r:id="rId5"/>
    <p:sldId id="266" r:id="rId6"/>
    <p:sldId id="314" r:id="rId7"/>
    <p:sldId id="271" r:id="rId8"/>
    <p:sldId id="317" r:id="rId9"/>
    <p:sldId id="256" r:id="rId10"/>
    <p:sldId id="318" r:id="rId11"/>
    <p:sldId id="319" r:id="rId12"/>
    <p:sldId id="32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  <p188:author id="{5AA1BD55-57CD-466E-0725-B6CBA11E0D12}" name="Lauren Weldy (ALLEGIS GROUP SERVICES)" initials="LW" userId="S::v-lweldy@microsoft.com::07a2285c-a352-4b96-8658-ecc34365c15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ED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388" autoAdjust="0"/>
  </p:normalViewPr>
  <p:slideViewPr>
    <p:cSldViewPr snapToGrid="0">
      <p:cViewPr varScale="1">
        <p:scale>
          <a:sx n="105" d="100"/>
          <a:sy n="105" d="100"/>
        </p:scale>
        <p:origin x="834" y="11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3149"/>
    </p:cViewPr>
  </p:sorterViewPr>
  <p:notesViewPr>
    <p:cSldViewPr snapToGrid="0">
      <p:cViewPr>
        <p:scale>
          <a:sx n="1" d="2"/>
          <a:sy n="1" d="2"/>
        </p:scale>
        <p:origin x="2640" y="28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89D207-BE08-4B33-B5B0-5A5A94C9512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E58DB9-49DC-495B-A68F-33D105C9065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7A1AC4-3AE8-4F87-AAED-904EC6054702}" type="datetimeFigureOut">
              <a:rPr lang="en-US" smtClean="0"/>
              <a:t>12/9/2025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66337E-DAD5-442C-9B8F-E10EB7D972C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E3BDF2-02BD-4181-AC28-FD56172CC62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F8A362-CAFC-4987-9A50-47570528395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23749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556653-6123-4FE4-861F-5F9583BF59B0}" type="datetimeFigureOut">
              <a:rPr lang="en-US" smtClean="0"/>
              <a:t>12/9/2025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EEB602-95FC-483A-B12D-216A7AD7EA2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5843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EB602-95FC-483A-B12D-216A7AD7EA24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6086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F282E-55F5-4803-B60F-09BA4600E538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74510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EB602-95FC-483A-B12D-216A7AD7EA24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38990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F282E-55F5-4803-B60F-09BA4600E538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02838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EB602-95FC-483A-B12D-216A7AD7EA24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1745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ED69555-EE48-4B19-812B-4E1068DBF976}"/>
              </a:ext>
            </a:extLst>
          </p:cNvPr>
          <p:cNvSpPr/>
          <p:nvPr/>
        </p:nvSpPr>
        <p:spPr>
          <a:xfrm>
            <a:off x="7573754" y="0"/>
            <a:ext cx="4618246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Freeform 57">
            <a:extLst>
              <a:ext uri="{FF2B5EF4-FFF2-40B4-BE49-F238E27FC236}">
                <a16:creationId xmlns:a16="http://schemas.microsoft.com/office/drawing/2014/main" id="{57AEB73D-F521-4B19-820F-12DB6BCC8406}"/>
              </a:ext>
            </a:extLst>
          </p:cNvPr>
          <p:cNvSpPr/>
          <p:nvPr/>
        </p:nvSpPr>
        <p:spPr bwMode="auto">
          <a:xfrm>
            <a:off x="4456113" y="31750"/>
            <a:ext cx="0" cy="1588"/>
          </a:xfrm>
          <a:custGeom>
            <a:avLst/>
            <a:gdLst/>
            <a:ahLst/>
            <a:cxn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30466D"/>
          </a:solidFill>
          <a:ln w="0">
            <a:solidFill>
              <a:srgbClr val="30466D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5388" y="863068"/>
            <a:ext cx="6007691" cy="4985916"/>
          </a:xfrm>
        </p:spPr>
        <p:txBody>
          <a:bodyPr anchor="ctr">
            <a:noAutofit/>
          </a:bodyPr>
          <a:lstStyle>
            <a:lvl1pPr algn="l">
              <a:lnSpc>
                <a:spcPct val="125000"/>
              </a:lnSpc>
              <a:defRPr sz="6000" b="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97352" y="863068"/>
            <a:ext cx="3351729" cy="5120069"/>
          </a:xfrm>
        </p:spPr>
        <p:txBody>
          <a:bodyPr anchor="ctr">
            <a:normAutofit/>
          </a:bodyPr>
          <a:lstStyle>
            <a:lvl1pPr marL="0" indent="0" algn="l">
              <a:lnSpc>
                <a:spcPct val="150000"/>
              </a:lnSpc>
              <a:buNone/>
              <a:defRPr sz="2400" b="0" cap="none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B72EEBA-3A5D-41CE-8465-A45A0F65674E}"/>
              </a:ext>
            </a:extLst>
          </p:cNvPr>
          <p:cNvSpPr/>
          <p:nvPr/>
        </p:nvSpPr>
        <p:spPr>
          <a:xfrm rot="5400000">
            <a:off x="410121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79F4CF2F-CDFA-4A37-837C-819D5238EA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97353" y="6309360"/>
            <a:ext cx="2151134" cy="457200"/>
          </a:xfrm>
        </p:spPr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CFECE62A-61A4-407D-8F0B-D459CD977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55388" y="6309360"/>
            <a:ext cx="6007691" cy="457200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99FE60A9-FE2A-451F-9244-60FCE7FE9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3062062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405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084944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BFD12B6-57DE-4B63-A723-500B050FB7DD}"/>
              </a:ext>
            </a:extLst>
          </p:cNvPr>
          <p:cNvSpPr/>
          <p:nvPr/>
        </p:nvSpPr>
        <p:spPr>
          <a:xfrm>
            <a:off x="0" y="4215384"/>
            <a:ext cx="12192000" cy="2642616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5316" y="1406284"/>
            <a:ext cx="10593694" cy="2597841"/>
          </a:xfrm>
        </p:spPr>
        <p:txBody>
          <a:bodyPr anchor="b">
            <a:normAutofit/>
          </a:bodyPr>
          <a:lstStyle>
            <a:lvl1pPr algn="ctr">
              <a:lnSpc>
                <a:spcPct val="125000"/>
              </a:lnSpc>
              <a:defRPr sz="44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18312" y="4527856"/>
            <a:ext cx="6559018" cy="1570245"/>
          </a:xfrm>
        </p:spPr>
        <p:txBody>
          <a:bodyPr anchor="t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400" b="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1E2E75-4758-4930-8024-39287C962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8B9949-402C-42C2-9A94-16590FC0C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39D83F6-DAF4-4876-AA41-F246EC970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613A19-DDA2-44F6-9ED4-F87771C684B8}"/>
              </a:ext>
            </a:extLst>
          </p:cNvPr>
          <p:cNvSpPr/>
          <p:nvPr/>
        </p:nvSpPr>
        <p:spPr>
          <a:xfrm>
            <a:off x="0" y="4215384"/>
            <a:ext cx="1218895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5343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5376670" y="705114"/>
            <a:ext cx="6172412" cy="2403846"/>
          </a:xfrm>
        </p:spPr>
        <p:txBody>
          <a:bodyPr anchor="b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76670" y="3749040"/>
            <a:ext cx="6172411" cy="23469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6B9B5-A5D1-4099-B52B-78F39AB0AFCB}"/>
              </a:ext>
            </a:extLst>
          </p:cNvPr>
          <p:cNvSpPr/>
          <p:nvPr/>
        </p:nvSpPr>
        <p:spPr>
          <a:xfrm rot="10800000">
            <a:off x="4693920" y="3396997"/>
            <a:ext cx="7498080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875859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76667" y="658999"/>
            <a:ext cx="6166422" cy="457200"/>
          </a:xfrm>
        </p:spPr>
        <p:txBody>
          <a:bodyPr anchor="b">
            <a:normAutofit/>
          </a:bodyPr>
          <a:lstStyle>
            <a:lvl1pPr marL="0" indent="0">
              <a:lnSpc>
                <a:spcPct val="130000"/>
              </a:lnSpc>
              <a:buNone/>
              <a:defRPr sz="18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76668" y="1116199"/>
            <a:ext cx="6166422" cy="20621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376668" y="3623098"/>
            <a:ext cx="6166421" cy="457200"/>
          </a:xfrm>
        </p:spPr>
        <p:txBody>
          <a:bodyPr anchor="b">
            <a:normAutofit/>
          </a:bodyPr>
          <a:lstStyle>
            <a:lvl1pPr marL="0" indent="0">
              <a:lnSpc>
                <a:spcPct val="99000"/>
              </a:lnSpc>
              <a:buNone/>
              <a:defRPr lang="en-US" sz="1800" b="1" kern="1200" cap="all" spc="15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76670" y="4102370"/>
            <a:ext cx="6166419" cy="20665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26B370B-8381-431F-9492-0EA120511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A89085-2231-4A9C-B23C-B199A9DD26C5}"/>
              </a:ext>
            </a:extLst>
          </p:cNvPr>
          <p:cNvSpPr/>
          <p:nvPr/>
        </p:nvSpPr>
        <p:spPr>
          <a:xfrm rot="10800000">
            <a:off x="4693920" y="3396997"/>
            <a:ext cx="7498080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15215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CD215-1C45-48A0-8534-39FFE8A7C95A}" type="datetime1">
              <a:rPr lang="en-US" smtClean="0"/>
              <a:t>12/9/2025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94837D5C-EE88-BE2B-5940-6A8E20CAEE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D6331A-AE6C-3009-DDD4-1671FF7E0F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825689"/>
            <a:ext cx="12192000" cy="520173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8D7D28B-DE67-0B99-CDEB-A037FFC56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889696"/>
            <a:ext cx="1070775" cy="50777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8B9F3E3-6134-5423-F75E-B36E71A652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36512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B1F677F-A1EC-4CDA-E80E-4B3695465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658511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F1E2C06-C49E-A5AA-07A3-D134EFA3D2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19516" y="896046"/>
            <a:ext cx="1070775" cy="507771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2BA39D8-E4F7-CD36-B80A-49D228C0FC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19516" y="0"/>
            <a:ext cx="1070775" cy="8256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06F4721-4B2C-0638-8409-054F6738E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19515" y="6027421"/>
            <a:ext cx="1070775" cy="8305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78947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CF41D3-C6B9-4E99-9321-87C4E2168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5BC6EB-07B1-46AF-AC33-E998BC6AA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E3A0C1-6562-4819-9E88-4C1378FD5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8225541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540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CA29BA-0143-49FF-8608-DB1623D99537}"/>
              </a:ext>
            </a:extLst>
          </p:cNvPr>
          <p:cNvSpPr/>
          <p:nvPr/>
        </p:nvSpPr>
        <p:spPr>
          <a:xfrm>
            <a:off x="0" y="0"/>
            <a:ext cx="8248592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53015" y="640079"/>
            <a:ext cx="2796066" cy="2551751"/>
          </a:xfrm>
        </p:spPr>
        <p:txBody>
          <a:bodyPr anchor="b">
            <a:normAutofit/>
          </a:bodyPr>
          <a:lstStyle>
            <a:lvl1pPr algn="l">
              <a:lnSpc>
                <a:spcPct val="135000"/>
              </a:lnSpc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8818" y="640078"/>
            <a:ext cx="6969693" cy="5455921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753015" y="3223803"/>
            <a:ext cx="2796066" cy="2872197"/>
          </a:xfrm>
        </p:spPr>
        <p:txBody>
          <a:bodyPr anchor="t">
            <a:normAutofit/>
          </a:bodyPr>
          <a:lstStyle>
            <a:lvl1pPr marL="0" indent="0">
              <a:spcBef>
                <a:spcPts val="140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10CF18-370D-4E80-AE4C-396FFDFCAE5D}"/>
              </a:ext>
            </a:extLst>
          </p:cNvPr>
          <p:cNvSpPr/>
          <p:nvPr/>
        </p:nvSpPr>
        <p:spPr>
          <a:xfrm rot="5400000">
            <a:off x="485159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C5EBFE9C-5A22-4462-9C51-E00C03F55C3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53015" y="6309360"/>
            <a:ext cx="1734207" cy="457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2EBBFF2E-AA66-4B76-9139-CB000B5A4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8818" y="6309360"/>
            <a:ext cx="6993867" cy="457200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44F64C4-BF20-4F6B-B650-57C71C828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4140893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540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34996" y="640079"/>
            <a:ext cx="2714085" cy="2695903"/>
          </a:xfrm>
        </p:spPr>
        <p:txBody>
          <a:bodyPr anchor="b">
            <a:noAutofit/>
          </a:bodyPr>
          <a:lstStyle>
            <a:lvl1pPr algn="l"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248592" cy="6857999"/>
          </a:xfrm>
          <a:solidFill>
            <a:schemeClr val="bg2">
              <a:lumMod val="9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834996" y="3429000"/>
            <a:ext cx="2714085" cy="2508026"/>
          </a:xfrm>
        </p:spPr>
        <p:txBody>
          <a:bodyPr anchor="t">
            <a:normAutofit/>
          </a:bodyPr>
          <a:lstStyle>
            <a:lvl1pPr marL="0" indent="0">
              <a:spcBef>
                <a:spcPts val="140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0949BC8-9ABF-49F6-851C-5DB0B86CA70D}"/>
              </a:ext>
            </a:extLst>
          </p:cNvPr>
          <p:cNvSpPr/>
          <p:nvPr/>
        </p:nvSpPr>
        <p:spPr>
          <a:xfrm rot="5400000">
            <a:off x="485159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E1EE21-E3FA-4D43-B224-C664959637B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34997" y="6309360"/>
            <a:ext cx="1645920" cy="457200"/>
          </a:xfrm>
        </p:spPr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2D7F83-8993-4ED4-9F02-663CC0850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3678B7-E511-4CE1-BEE5-89E959B9B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0080" y="6309360"/>
            <a:ext cx="4946592" cy="457200"/>
          </a:xfrm>
        </p:spPr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063196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523653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7965" y="507037"/>
            <a:ext cx="1571626" cy="533993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33700" y="524373"/>
            <a:ext cx="5959577" cy="532259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277965" y="6296615"/>
            <a:ext cx="2505996" cy="365125"/>
          </a:xfrm>
        </p:spPr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33699" y="6296615"/>
            <a:ext cx="5959577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734643" y="2853201"/>
            <a:ext cx="5383267" cy="604269"/>
          </a:xfrm>
        </p:spPr>
        <p:txBody>
          <a:bodyPr/>
          <a:lstStyle>
            <a:lvl1pPr algn="l">
              <a:defRPr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 title="Rule Line">
            <a:extLst>
              <a:ext uri="{FF2B5EF4-FFF2-40B4-BE49-F238E27FC236}">
                <a16:creationId xmlns:a16="http://schemas.microsoft.com/office/drawing/2014/main" id="{A1005B08-D2D4-455C-AA62-1200E43E7AF9}"/>
              </a:ext>
            </a:extLst>
          </p:cNvPr>
          <p:cNvCxnSpPr/>
          <p:nvPr/>
        </p:nvCxnSpPr>
        <p:spPr>
          <a:xfrm>
            <a:off x="9111582" y="571502"/>
            <a:ext cx="0" cy="5275467"/>
          </a:xfrm>
          <a:prstGeom prst="line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221572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BF5F5DFA-1BC3-4062-9356-6145C9F7C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6B5D461-AEC0-477F-A77A-6227F95A83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75813" y="0"/>
            <a:ext cx="4016188" cy="105654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E1A041D-DE47-45FA-AC78-CC7FD02571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5" y="1031500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614254-52EF-4F58-99B1-CDA7C39223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134" y="1095508"/>
            <a:ext cx="8203482" cy="5016893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BD3B3ABA-0408-41EA-935D-D4F4586AA8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7178" y="1361923"/>
            <a:ext cx="6623040" cy="1421898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0EA5BF-04A6-2B17-0703-8419C4DB97F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87399" y="2916772"/>
            <a:ext cx="6622819" cy="2852639"/>
          </a:xfrm>
        </p:spPr>
        <p:txBody>
          <a:bodyPr anchor="t"/>
          <a:lstStyle>
            <a:lvl1pPr marL="0" indent="0">
              <a:lnSpc>
                <a:spcPct val="125000"/>
              </a:lnSpc>
              <a:spcAft>
                <a:spcPts val="600"/>
              </a:spcAft>
              <a:buNone/>
              <a:defRPr sz="2000" b="0"/>
            </a:lvl1pPr>
            <a:lvl2pPr>
              <a:lnSpc>
                <a:spcPct val="125000"/>
              </a:lnSpc>
              <a:spcAft>
                <a:spcPts val="600"/>
              </a:spcAft>
              <a:defRPr/>
            </a:lvl2pPr>
            <a:lvl3pPr>
              <a:lnSpc>
                <a:spcPct val="125000"/>
              </a:lnSpc>
              <a:spcAft>
                <a:spcPts val="600"/>
              </a:spcAft>
              <a:defRPr/>
            </a:lvl3pPr>
            <a:lvl4pPr>
              <a:lnSpc>
                <a:spcPct val="125000"/>
              </a:lnSpc>
              <a:spcAft>
                <a:spcPts val="600"/>
              </a:spcAft>
              <a:defRPr/>
            </a:lvl4pPr>
            <a:lvl5pPr>
              <a:lnSpc>
                <a:spcPct val="125000"/>
              </a:lnSpc>
              <a:spcAft>
                <a:spcPts val="600"/>
              </a:spcAft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837301C-2B9B-4119-9002-BD6DB2AB87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6144405"/>
            <a:ext cx="8150087" cy="71359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D12738D-D0ED-4899-A01C-42439B5B3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206532" y="6167615"/>
            <a:ext cx="3982418" cy="69038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EED261D-45B9-40C1-8341-8B8B796E8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5" y="6112401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ooter Placeholder 7">
            <a:extLst>
              <a:ext uri="{FF2B5EF4-FFF2-40B4-BE49-F238E27FC236}">
                <a16:creationId xmlns:a16="http://schemas.microsoft.com/office/drawing/2014/main" id="{182CF530-D736-4104-8678-850EEDF99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7178" y="6309360"/>
            <a:ext cx="6623040" cy="457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9" name="Date Placeholder 5">
            <a:extLst>
              <a:ext uri="{FF2B5EF4-FFF2-40B4-BE49-F238E27FC236}">
                <a16:creationId xmlns:a16="http://schemas.microsoft.com/office/drawing/2014/main" id="{8DEDB7CE-711E-4E43-9450-4C7BECE2FC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79537" y="6309360"/>
            <a:ext cx="1885598" cy="457200"/>
          </a:xfrm>
        </p:spPr>
        <p:txBody>
          <a:bodyPr/>
          <a:lstStyle/>
          <a:p>
            <a:r>
              <a:rPr lang="en-US" dirty="0"/>
              <a:t>9/8/20XX</a:t>
            </a:r>
          </a:p>
        </p:txBody>
      </p:sp>
      <p:sp>
        <p:nvSpPr>
          <p:cNvPr id="20" name="Slide Number Placeholder 9">
            <a:extLst>
              <a:ext uri="{FF2B5EF4-FFF2-40B4-BE49-F238E27FC236}">
                <a16:creationId xmlns:a16="http://schemas.microsoft.com/office/drawing/2014/main" id="{F5D9588C-9E6B-42F6-8B42-D18388626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/>
          <a:lstStyle>
            <a:lvl1pPr>
              <a:defRPr sz="1200" b="0"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E23953F-BF80-48E0-8282-62907D6C29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42523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D79D74E-6357-D3E7-30C0-09B4B82BA3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203482" y="1095507"/>
            <a:ext cx="3997653" cy="501689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75342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EA8D8870-8337-4ABD-9EA6-3D5AAB7E4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BAC3B2DB-2CCA-4BD4-8D63-98257049E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825689"/>
            <a:ext cx="7685728" cy="374154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Title 1">
            <a:extLst>
              <a:ext uri="{FF2B5EF4-FFF2-40B4-BE49-F238E27FC236}">
                <a16:creationId xmlns:a16="http://schemas.microsoft.com/office/drawing/2014/main" id="{324DAAC3-FA37-4838-A298-327679F99F8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86630" y="825687"/>
            <a:ext cx="5957384" cy="3741551"/>
          </a:xfrm>
        </p:spPr>
        <p:txBody>
          <a:bodyPr tIns="182880" anchor="ctr" anchorCtr="0">
            <a:noAutofit/>
          </a:bodyPr>
          <a:lstStyle>
            <a:lvl1pPr>
              <a:lnSpc>
                <a:spcPct val="100000"/>
              </a:lnSpc>
              <a:defRPr sz="4000" cap="all" baseline="0">
                <a:solidFill>
                  <a:schemeClr val="bg1"/>
                </a:solidFill>
              </a:defRPr>
            </a:lvl1pPr>
          </a:lstStyle>
          <a:p>
            <a:r>
              <a:rPr lang="en-US" sz="4400" dirty="0">
                <a:solidFill>
                  <a:schemeClr val="bg1"/>
                </a:solidFill>
              </a:rPr>
              <a:t>CLICK TO ADD TITLE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B792E4C-AD3B-4E88-8540-E757597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889696"/>
            <a:ext cx="1070775" cy="360134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A32632F-9ED1-4328-BBE3-B4E014156A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36512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5" name="Picture Placeholder 64">
            <a:extLst>
              <a:ext uri="{FF2B5EF4-FFF2-40B4-BE49-F238E27FC236}">
                <a16:creationId xmlns:a16="http://schemas.microsoft.com/office/drawing/2014/main" id="{D60E3C33-714C-4528-93A6-4470C3E89AE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710836" y="-2"/>
            <a:ext cx="4481164" cy="6858002"/>
          </a:xfrm>
          <a:custGeom>
            <a:avLst/>
            <a:gdLst>
              <a:gd name="connsiteX0" fmla="*/ 0 w 5332064"/>
              <a:gd name="connsiteY0" fmla="*/ 0 h 6858002"/>
              <a:gd name="connsiteX1" fmla="*/ 5332064 w 5332064"/>
              <a:gd name="connsiteY1" fmla="*/ 0 h 6858002"/>
              <a:gd name="connsiteX2" fmla="*/ 5332064 w 5332064"/>
              <a:gd name="connsiteY2" fmla="*/ 6858002 h 6858002"/>
              <a:gd name="connsiteX3" fmla="*/ 0 w 5332064"/>
              <a:gd name="connsiteY3" fmla="*/ 6858002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32064" h="6858002">
                <a:moveTo>
                  <a:pt x="0" y="0"/>
                </a:moveTo>
                <a:lnTo>
                  <a:pt x="5332064" y="0"/>
                </a:lnTo>
                <a:lnTo>
                  <a:pt x="5332064" y="6858002"/>
                </a:lnTo>
                <a:lnTo>
                  <a:pt x="0" y="6858002"/>
                </a:lnTo>
                <a:close/>
              </a:path>
            </a:pathLst>
          </a:custGeom>
        </p:spPr>
        <p:txBody>
          <a:bodyPr wrap="square" anchor="t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EA124D3C-01E3-4B96-BDF0-54851D173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4249831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14307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56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Sub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E7E77A60-3019-43AE-AA38-E130C04CF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FDBF0FB-88D2-4271-BFAF-D129CF8C2F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0325" y="-4078"/>
            <a:ext cx="5787773" cy="105654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62B807B-6DFA-471C-B675-016416207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4" y="1031500"/>
            <a:ext cx="12190475" cy="6416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555D4C0-9882-489D-AD77-A9F38B378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46677" y="1095508"/>
            <a:ext cx="5742273" cy="5016893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8EC5ED-FCAE-682A-C050-58786819E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7416" y="1316736"/>
            <a:ext cx="5120640" cy="3392424"/>
          </a:xfrm>
        </p:spPr>
        <p:txBody>
          <a:bodyPr anchor="b"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0" name="Subtitle 2">
            <a:extLst>
              <a:ext uri="{FF2B5EF4-FFF2-40B4-BE49-F238E27FC236}">
                <a16:creationId xmlns:a16="http://schemas.microsoft.com/office/drawing/2014/main" id="{15C8BDC7-F09C-40A3-B14E-9A49781EE6C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749828" y="4816366"/>
            <a:ext cx="5125300" cy="1068929"/>
          </a:xfrm>
        </p:spPr>
        <p:txBody>
          <a:bodyPr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sz="2000" b="0"/>
            </a:lvl1pPr>
          </a:lstStyle>
          <a:p>
            <a:r>
              <a:rPr lang="en-US" sz="2000" dirty="0">
                <a:solidFill>
                  <a:schemeClr val="tx2"/>
                </a:solidFill>
              </a:rPr>
              <a:t>Click to add subtitle</a:t>
            </a:r>
          </a:p>
        </p:txBody>
      </p:sp>
      <p:sp>
        <p:nvSpPr>
          <p:cNvPr id="40" name="Picture Placeholder 38">
            <a:extLst>
              <a:ext uri="{FF2B5EF4-FFF2-40B4-BE49-F238E27FC236}">
                <a16:creationId xmlns:a16="http://schemas.microsoft.com/office/drawing/2014/main" id="{AB2070F4-085F-4F8D-A1E8-A58E5F8F068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6099" y="1095509"/>
            <a:ext cx="6391656" cy="501689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47A5DB4-1ED7-4630-89AF-F1802E44EF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144405"/>
            <a:ext cx="6446677" cy="71359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E5D4012-4107-490F-A369-EA7063242A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46677" y="6167615"/>
            <a:ext cx="5742273" cy="69038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95C79E2-9EA5-4713-B4AF-0E4572CFFA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4" y="6112249"/>
            <a:ext cx="12190475" cy="6416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74C09E2-06F0-4230-8DAD-A0DBF01F8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79494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7427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ntent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5C341663-7159-49AD-AAF3-4B3C490D81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0F2EB12-394C-40E4-9186-CBD6635B5D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77552" y="0"/>
            <a:ext cx="7514448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53F9468C-8821-4670-9C7C-78E7D75861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41023" y="167463"/>
            <a:ext cx="6408058" cy="1580890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D78806-0532-B92A-4326-73941B4232E7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0" y="0"/>
            <a:ext cx="4613275" cy="6858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83D2425-8E71-4C9D-8737-018CE44525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216551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EB24183-BE19-B810-4EF4-D9959CAD150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140405" y="1959427"/>
            <a:ext cx="6408665" cy="4161653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800" b="0"/>
            </a:lvl1pPr>
            <a:lvl2pPr>
              <a:lnSpc>
                <a:spcPct val="100000"/>
              </a:lnSpc>
              <a:spcAft>
                <a:spcPts val="600"/>
              </a:spcAft>
              <a:defRPr sz="1800"/>
            </a:lvl2pPr>
            <a:lvl3pPr>
              <a:lnSpc>
                <a:spcPct val="100000"/>
              </a:lnSpc>
              <a:spcAft>
                <a:spcPts val="600"/>
              </a:spcAft>
              <a:defRPr sz="1800"/>
            </a:lvl3pPr>
            <a:lvl4pPr>
              <a:lnSpc>
                <a:spcPct val="100000"/>
              </a:lnSpc>
              <a:spcAft>
                <a:spcPts val="600"/>
              </a:spcAft>
              <a:defRPr sz="1800"/>
            </a:lvl4pPr>
            <a:lvl5pPr>
              <a:lnSpc>
                <a:spcPct val="100000"/>
              </a:lnSpc>
              <a:spcAft>
                <a:spcPts val="6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D15B6AB-EFBA-3087-EC3D-8DA945B70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40405" y="6309360"/>
            <a:ext cx="3982428" cy="457200"/>
          </a:xfrm>
        </p:spPr>
        <p:txBody>
          <a:bodyPr/>
          <a:lstStyle>
            <a:lvl1pPr algn="ctr">
              <a:defRPr>
                <a:effectLst/>
              </a:defRPr>
            </a:lvl1pPr>
          </a:lstStyle>
          <a:p>
            <a:pPr algn="l"/>
            <a:r>
              <a:rPr lang="en-US" dirty="0"/>
              <a:t>Presentation Title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6A3371A6-1409-7906-744F-59D906DF67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8415" y="6309360"/>
            <a:ext cx="1215204" cy="457200"/>
          </a:xfrm>
        </p:spPr>
        <p:txBody>
          <a:bodyPr/>
          <a:lstStyle>
            <a:lvl1pPr algn="ctr">
              <a:defRPr>
                <a:effectLst/>
              </a:defRPr>
            </a:lvl1pPr>
          </a:lstStyle>
          <a:p>
            <a:r>
              <a:rPr lang="en-US" dirty="0">
                <a:solidFill>
                  <a:schemeClr val="tx2"/>
                </a:solidFill>
              </a:rPr>
              <a:t>9/8/20XX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8546652F-6212-09E9-1A75-28F7C8EEF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/>
          <a:lstStyle>
            <a:lvl1pPr>
              <a:defRPr sz="1200" b="0"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84187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EA8D8870-8337-4ABD-9EA6-3D5AAB7E4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BAC3B2DB-2CCA-4BD4-8D63-98257049E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825689"/>
            <a:ext cx="12192000" cy="520173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Title 1">
            <a:extLst>
              <a:ext uri="{FF2B5EF4-FFF2-40B4-BE49-F238E27FC236}">
                <a16:creationId xmlns:a16="http://schemas.microsoft.com/office/drawing/2014/main" id="{324DAAC3-FA37-4838-A298-327679F99F8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86628" y="1034477"/>
            <a:ext cx="9380431" cy="2614551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4800" cap="all" baseline="0">
                <a:solidFill>
                  <a:schemeClr val="bg1"/>
                </a:solidFill>
              </a:defRPr>
            </a:lvl1pPr>
          </a:lstStyle>
          <a:p>
            <a:r>
              <a:rPr lang="en-US" sz="4400" dirty="0">
                <a:solidFill>
                  <a:schemeClr val="bg1"/>
                </a:solidFill>
              </a:rPr>
              <a:t>CLICK TO ADD TITLE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B792E4C-AD3B-4E88-8540-E757597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889696"/>
            <a:ext cx="1070775" cy="50777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A32632F-9ED1-4328-BBE3-B4E014156A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36512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EA124D3C-01E3-4B96-BDF0-54851D173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658511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67A64FF-37A7-4837-8033-CBEA22697E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19516" y="896046"/>
            <a:ext cx="1070775" cy="50777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94ADB5-E70F-B672-CBEB-D8194AEA79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86177" y="3649028"/>
            <a:ext cx="9380431" cy="2164715"/>
          </a:xfrm>
        </p:spPr>
        <p:txBody>
          <a:bodyPr anchor="t"/>
          <a:lstStyle>
            <a:lvl1pPr marL="0" indent="0">
              <a:lnSpc>
                <a:spcPct val="125000"/>
              </a:lnSpc>
              <a:buNone/>
              <a:defRPr lang="en-US" sz="2400" b="0" kern="1200" spc="150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2400" b="0" kern="1200" spc="150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>
              <a:defRPr lang="en-US" sz="2400" b="0" kern="1200" spc="150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>
              <a:defRPr lang="en-US" sz="2400" b="0" kern="1200" spc="150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2400" b="0" kern="1200" spc="15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9357388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56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EA8D8870-8337-4ABD-9EA6-3D5AAB7E4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BAC3B2DB-2CCA-4BD4-8D63-98257049E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825689"/>
            <a:ext cx="12192000" cy="520173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Title 1">
            <a:extLst>
              <a:ext uri="{FF2B5EF4-FFF2-40B4-BE49-F238E27FC236}">
                <a16:creationId xmlns:a16="http://schemas.microsoft.com/office/drawing/2014/main" id="{324DAAC3-FA37-4838-A298-327679F99F8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86629" y="825687"/>
            <a:ext cx="9643772" cy="5201730"/>
          </a:xfrm>
        </p:spPr>
        <p:txBody>
          <a:bodyPr tIns="182880" anchor="ctr" anchorCtr="0">
            <a:noAutofit/>
          </a:bodyPr>
          <a:lstStyle>
            <a:lvl1pPr algn="l">
              <a:lnSpc>
                <a:spcPct val="100000"/>
              </a:lnSpc>
              <a:defRPr sz="4800" cap="all" baseline="0">
                <a:solidFill>
                  <a:schemeClr val="bg1"/>
                </a:solidFill>
              </a:defRPr>
            </a:lvl1pPr>
          </a:lstStyle>
          <a:p>
            <a:r>
              <a:rPr lang="en-US" sz="4400" dirty="0">
                <a:solidFill>
                  <a:schemeClr val="bg1"/>
                </a:solidFill>
              </a:rPr>
              <a:t>CLICK TO ADD TITLE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B792E4C-AD3B-4E88-8540-E757597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889696"/>
            <a:ext cx="1070775" cy="50777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A32632F-9ED1-4328-BBE3-B4E014156A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36512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EA124D3C-01E3-4B96-BDF0-54851D173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658511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67A64FF-37A7-4837-8033-CBEA22697E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19516" y="896046"/>
            <a:ext cx="1070775" cy="507771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FC0C09F-8990-542B-199E-E6FADE2FEE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19516" y="0"/>
            <a:ext cx="1070775" cy="8256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F6F60C3-341E-9533-2415-66360A254A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19515" y="6027421"/>
            <a:ext cx="1070775" cy="8305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47539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56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786F82F-1B47-46ED-8EAE-53EF71E59E9A}"/>
              </a:ext>
            </a:extLst>
          </p:cNvPr>
          <p:cNvSpPr/>
          <p:nvPr/>
        </p:nvSpPr>
        <p:spPr>
          <a:xfrm>
            <a:off x="4718302" y="0"/>
            <a:ext cx="7473698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2918" y="705113"/>
            <a:ext cx="3411973" cy="5197498"/>
          </a:xfrm>
          <a:prstGeom prst="rect">
            <a:avLst/>
          </a:prstGeom>
        </p:spPr>
        <p:txBody>
          <a:bodyPr vert="horz" lIns="109728" tIns="109728" rIns="109728" bIns="9144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76671" y="705113"/>
            <a:ext cx="6172412" cy="5197497"/>
          </a:xfrm>
          <a:prstGeom prst="rect">
            <a:avLst/>
          </a:prstGeom>
        </p:spPr>
        <p:txBody>
          <a:bodyPr vert="horz" lIns="109728" tIns="109728" rIns="109728" bIns="9144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2917" y="6309360"/>
            <a:ext cx="3411973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76670" y="6309360"/>
            <a:ext cx="4946592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9202" y="6309360"/>
            <a:ext cx="979879" cy="457200"/>
          </a:xfrm>
          <a:prstGeom prst="rect">
            <a:avLst/>
          </a:prstGeom>
        </p:spPr>
        <p:txBody>
          <a:bodyPr vert="horz" lIns="109728" tIns="109728" rIns="109728" bIns="91440" rtlCol="0" anchor="b"/>
          <a:lstStyle>
            <a:lvl1pPr algn="r">
              <a:defRPr sz="1600" b="1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F1BAF6F-6275-4646-9C59-331B29B9550F}"/>
              </a:ext>
            </a:extLst>
          </p:cNvPr>
          <p:cNvSpPr/>
          <p:nvPr/>
        </p:nvSpPr>
        <p:spPr>
          <a:xfrm rot="5400000">
            <a:off x="1257298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548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  <p:sldLayoutId id="2147483701" r:id="rId15"/>
    <p:sldLayoutId id="2147483702" r:id="rId16"/>
    <p:sldLayoutId id="2147483682" r:id="rId17"/>
  </p:sldLayoutIdLst>
  <p:hf sldNum="0" hdr="0" ftr="0" dt="0"/>
  <p:txStyles>
    <p:titleStyle>
      <a:lvl1pPr algn="l" defTabSz="914400" rtl="0" eaLnBrk="1" latinLnBrk="0" hangingPunct="1">
        <a:lnSpc>
          <a:spcPct val="150000"/>
        </a:lnSpc>
        <a:spcBef>
          <a:spcPct val="0"/>
        </a:spcBef>
        <a:buNone/>
        <a:defRPr sz="3600" b="1" kern="1200" spc="1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800" b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6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2024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6pPr>
      <a:lvl7pPr marL="224028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7pPr>
      <a:lvl8pPr marL="256032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8pPr>
      <a:lvl9pPr marL="288036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848">
          <p15:clr>
            <a:srgbClr val="F26B43"/>
          </p15:clr>
        </p15:guide>
        <p15:guide id="2" orient="horz" pos="3960">
          <p15:clr>
            <a:srgbClr val="F26B43"/>
          </p15:clr>
        </p15:guide>
        <p15:guide id="3" orient="horz" pos="1536">
          <p15:clr>
            <a:srgbClr val="F26B43"/>
          </p15:clr>
        </p15:guide>
        <p15:guide id="4" orient="horz" pos="3840">
          <p15:clr>
            <a:srgbClr val="F26B43"/>
          </p15:clr>
        </p15:guide>
        <p15:guide id="5" pos="4416">
          <p15:clr>
            <a:srgbClr val="F26B43"/>
          </p15:clr>
        </p15:guide>
        <p15:guide id="6" pos="4800">
          <p15:clr>
            <a:srgbClr val="F26B43"/>
          </p15:clr>
        </p15:guide>
        <p15:guide id="7" orient="horz" pos="360">
          <p15:clr>
            <a:srgbClr val="F26B43"/>
          </p15:clr>
        </p15:guide>
        <p15:guide id="8" pos="7368">
          <p15:clr>
            <a:srgbClr val="F26B43"/>
          </p15:clr>
        </p15:guide>
        <p15:guide id="9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814B6A3-5F3E-4909-8ED5-87FE824922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0944" y="310896"/>
            <a:ext cx="9643772" cy="5201730"/>
          </a:xfrm>
        </p:spPr>
        <p:txBody>
          <a:bodyPr vert="horz" lIns="109728" tIns="109728" rIns="109728" bIns="91440" rtlCol="0" anchor="ctr">
            <a:normAutofit/>
          </a:bodyPr>
          <a:lstStyle/>
          <a:p>
            <a:pPr algn="ctr"/>
            <a:r>
              <a:rPr lang="en-US" dirty="0"/>
              <a:t>Bank Account Ledger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5104853-764D-0696-2366-42308B274090}"/>
              </a:ext>
            </a:extLst>
          </p:cNvPr>
          <p:cNvSpPr txBox="1"/>
          <p:nvPr/>
        </p:nvSpPr>
        <p:spPr>
          <a:xfrm>
            <a:off x="3185366" y="3429000"/>
            <a:ext cx="514307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Rahkim H. Coleman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E122B2-0AFD-B579-4147-C44FCB1A9F5B}"/>
              </a:ext>
            </a:extLst>
          </p:cNvPr>
          <p:cNvSpPr txBox="1"/>
          <p:nvPr/>
        </p:nvSpPr>
        <p:spPr>
          <a:xfrm>
            <a:off x="3983750" y="4185279"/>
            <a:ext cx="361188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COS-112-001</a:t>
            </a:r>
          </a:p>
        </p:txBody>
      </p:sp>
      <p:pic>
        <p:nvPicPr>
          <p:cNvPr id="1030" name="Picture 6" descr="Decorative Dollar Bills PNG Clipart​ | Gallery Yopriceville - High-Quality  Free Images and Transparent PNG Clipart">
            <a:extLst>
              <a:ext uri="{FF2B5EF4-FFF2-40B4-BE49-F238E27FC236}">
                <a16:creationId xmlns:a16="http://schemas.microsoft.com/office/drawing/2014/main" id="{3B3AAAB2-90CF-E461-E5E3-15755A6285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81095">
            <a:off x="1139021" y="1017806"/>
            <a:ext cx="2506261" cy="1140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Credit card PNG transparent image download, size: 4000x3625px">
            <a:extLst>
              <a:ext uri="{FF2B5EF4-FFF2-40B4-BE49-F238E27FC236}">
                <a16:creationId xmlns:a16="http://schemas.microsoft.com/office/drawing/2014/main" id="{AC70F083-5237-8011-9E9D-2A407EE1F9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8380050" y="3478518"/>
            <a:ext cx="2613349" cy="2368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566FD55-24D5-2388-19E7-3C2FEA31008F}"/>
              </a:ext>
            </a:extLst>
          </p:cNvPr>
          <p:cNvSpPr txBox="1"/>
          <p:nvPr/>
        </p:nvSpPr>
        <p:spPr>
          <a:xfrm>
            <a:off x="4805801" y="4941558"/>
            <a:ext cx="200542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Dr. Dali</a:t>
            </a:r>
          </a:p>
        </p:txBody>
      </p:sp>
    </p:spTree>
    <p:extLst>
      <p:ext uri="{BB962C8B-B14F-4D97-AF65-F5344CB8AC3E}">
        <p14:creationId xmlns:p14="http://schemas.microsoft.com/office/powerpoint/2010/main" val="23239072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099405E2-1A96-4DBA-A9DC-4C2A1B421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57" name="Rectangle 2056">
            <a:extLst>
              <a:ext uri="{FF2B5EF4-FFF2-40B4-BE49-F238E27FC236}">
                <a16:creationId xmlns:a16="http://schemas.microsoft.com/office/drawing/2014/main" id="{DEB1CCE3-FB1D-471C-9AFE-D20E81E64A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825689"/>
            <a:ext cx="6795928" cy="259421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FDE6B89-9484-4E50-8387-C55E031D8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4622" y="1113327"/>
            <a:ext cx="4862811" cy="2019488"/>
          </a:xfrm>
        </p:spPr>
        <p:txBody>
          <a:bodyPr>
            <a:normAutofit/>
          </a:bodyPr>
          <a:lstStyle/>
          <a:p>
            <a:pPr>
              <a:lnSpc>
                <a:spcPct val="140000"/>
              </a:lnSpc>
            </a:pPr>
            <a:r>
              <a:rPr lang="en-US" sz="2800" dirty="0">
                <a:solidFill>
                  <a:schemeClr val="bg1"/>
                </a:solidFill>
              </a:rPr>
              <a:t>So, what is a Bank Ledger? What does it include? </a:t>
            </a:r>
          </a:p>
        </p:txBody>
      </p:sp>
      <p:sp>
        <p:nvSpPr>
          <p:cNvPr id="2059" name="Rectangle 2058">
            <a:extLst>
              <a:ext uri="{FF2B5EF4-FFF2-40B4-BE49-F238E27FC236}">
                <a16:creationId xmlns:a16="http://schemas.microsoft.com/office/drawing/2014/main" id="{60F38E87-6AF8-4488-B608-9FA2F57B4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889697"/>
            <a:ext cx="1070775" cy="2466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1" name="Rectangle 2060">
            <a:extLst>
              <a:ext uri="{FF2B5EF4-FFF2-40B4-BE49-F238E27FC236}">
                <a16:creationId xmlns:a16="http://schemas.microsoft.com/office/drawing/2014/main" id="{ECC3B76D-CC6E-42D0-8666-2A2164AB5A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3355896"/>
            <a:ext cx="679399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3" name="Rectangle 2062">
            <a:extLst>
              <a:ext uri="{FF2B5EF4-FFF2-40B4-BE49-F238E27FC236}">
                <a16:creationId xmlns:a16="http://schemas.microsoft.com/office/drawing/2014/main" id="{32BA9D6C-8214-4E25-AF8B-48762AD8D5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8769" y="3419903"/>
            <a:ext cx="5789163" cy="3438097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5" name="Rectangle 2064">
            <a:extLst>
              <a:ext uri="{FF2B5EF4-FFF2-40B4-BE49-F238E27FC236}">
                <a16:creationId xmlns:a16="http://schemas.microsoft.com/office/drawing/2014/main" id="{DBE9B8BD-472F-4F54-AC9D-101EE34969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7" name="Rectangle 2066">
            <a:extLst>
              <a:ext uri="{FF2B5EF4-FFF2-40B4-BE49-F238E27FC236}">
                <a16:creationId xmlns:a16="http://schemas.microsoft.com/office/drawing/2014/main" id="{0871A14F-64B0-4CCE-900E-695C55EFF3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825689"/>
            <a:ext cx="679399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0EB58E2-A9A0-481A-8B5B-381B836CE4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8180" y="3468069"/>
            <a:ext cx="5117253" cy="2505801"/>
          </a:xfrm>
        </p:spPr>
        <p:txBody>
          <a:bodyPr anchor="t">
            <a:no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500" dirty="0"/>
              <a:t>A bank's ledger is a record of all account activity: deposits, withdrawals, and other transactions, all listed in order. Individuals and businesses use it to keep track of money coming in and going out.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500" dirty="0"/>
              <a:t>For this program, the ledger tracks deposits and withdrawals, reads transactions from an input file, and generates detailed account reports</a:t>
            </a:r>
            <a:r>
              <a:rPr lang="en-US" sz="1600" dirty="0"/>
              <a:t>.</a:t>
            </a:r>
          </a:p>
        </p:txBody>
      </p:sp>
      <p:sp>
        <p:nvSpPr>
          <p:cNvPr id="2069" name="Rectangle 2068">
            <a:extLst>
              <a:ext uri="{FF2B5EF4-FFF2-40B4-BE49-F238E27FC236}">
                <a16:creationId xmlns:a16="http://schemas.microsoft.com/office/drawing/2014/main" id="{0FDBC76A-295F-4635-A28D-ADA24F383A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398931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Download Person Thinking With Question Mark Free Clipart - Clipart Person Thinking  Transparent PNG Image with No Background - PNGkey.com">
            <a:extLst>
              <a:ext uri="{FF2B5EF4-FFF2-40B4-BE49-F238E27FC236}">
                <a16:creationId xmlns:a16="http://schemas.microsoft.com/office/drawing/2014/main" id="{E1A6C4D8-FFB8-007C-C5DB-CC7687A380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344569" y="644441"/>
            <a:ext cx="4362798" cy="5505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82995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099405E2-1A96-4DBA-A9DC-4C2A1B421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81" name="Rectangle 3080">
            <a:extLst>
              <a:ext uri="{FF2B5EF4-FFF2-40B4-BE49-F238E27FC236}">
                <a16:creationId xmlns:a16="http://schemas.microsoft.com/office/drawing/2014/main" id="{BCF4857D-F003-4CA1-82AB-00900B100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4426072" cy="18040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Programing - Free vector clipart images on creazilla.com">
            <a:extLst>
              <a:ext uri="{FF2B5EF4-FFF2-40B4-BE49-F238E27FC236}">
                <a16:creationId xmlns:a16="http://schemas.microsoft.com/office/drawing/2014/main" id="{E2116FBA-242A-269B-039D-EB16B6F583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99" r="25915" b="-2"/>
          <a:stretch>
            <a:fillRect/>
          </a:stretch>
        </p:blipFill>
        <p:spPr bwMode="auto">
          <a:xfrm>
            <a:off x="20" y="1804072"/>
            <a:ext cx="4458058" cy="4349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83" name="Rectangle 3082">
            <a:extLst>
              <a:ext uri="{FF2B5EF4-FFF2-40B4-BE49-F238E27FC236}">
                <a16:creationId xmlns:a16="http://schemas.microsoft.com/office/drawing/2014/main" id="{79855050-A75B-4DD0-9B56-8B1C7722D8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426076" y="0"/>
            <a:ext cx="7765922" cy="616761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0814B6A3-5F3E-4909-8ED5-87FE82492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3908" y="166225"/>
            <a:ext cx="6754447" cy="1471622"/>
          </a:xfrm>
        </p:spPr>
        <p:txBody>
          <a:bodyPr vert="horz" lIns="109728" tIns="109728" rIns="109728" bIns="91440" rtlCol="0" anchor="b">
            <a:normAutofit/>
          </a:bodyPr>
          <a:lstStyle/>
          <a:p>
            <a:pPr>
              <a:lnSpc>
                <a:spcPct val="140000"/>
              </a:lnSpc>
            </a:pPr>
            <a:r>
              <a:rPr lang="en-US" sz="2800" dirty="0"/>
              <a:t>Alright, so how does this program work?</a:t>
            </a:r>
          </a:p>
        </p:txBody>
      </p:sp>
      <p:sp>
        <p:nvSpPr>
          <p:cNvPr id="3085" name="Rectangle 3084">
            <a:extLst>
              <a:ext uri="{FF2B5EF4-FFF2-40B4-BE49-F238E27FC236}">
                <a16:creationId xmlns:a16="http://schemas.microsoft.com/office/drawing/2014/main" id="{5E6738EB-6FF0-4AF9-8462-57F4494B88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1753806"/>
            <a:ext cx="4425696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7190DD-0BC3-27E3-E902-B2A75466D0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4558" y="1744723"/>
            <a:ext cx="7193148" cy="4481084"/>
          </a:xfrm>
        </p:spPr>
        <p:txBody>
          <a:bodyPr anchor="t">
            <a:normAutofit fontScale="32500" lnSpcReduction="20000"/>
          </a:bodyPr>
          <a:lstStyle/>
          <a:p>
            <a:pPr marL="342900" indent="-342900">
              <a:buAutoNum type="arabicPeriod"/>
            </a:pPr>
            <a:r>
              <a:rPr lang="en-US" sz="4900" dirty="0"/>
              <a:t>Loading the accounts themselves: This reads bankdata.txt to create other accounts with starting balances.</a:t>
            </a:r>
          </a:p>
          <a:p>
            <a:pPr marL="342900" indent="-342900">
              <a:buFont typeface="Corbel" panose="020B0503020204020204" pitchFamily="34" charset="0"/>
              <a:buAutoNum type="arabicPeriod"/>
            </a:pPr>
            <a:r>
              <a:rPr lang="en-US" sz="4900" dirty="0"/>
              <a:t>Process Transactions: Updates accounts based on transaction type: D= Deposit, W= Withdrawal. Invalid transactions are logged instead of applied.</a:t>
            </a:r>
          </a:p>
          <a:p>
            <a:pPr marL="342900" indent="-342900">
              <a:buFont typeface="Corbel" panose="020B0503020204020204" pitchFamily="34" charset="0"/>
              <a:buAutoNum type="arabicPeriod"/>
            </a:pPr>
            <a:r>
              <a:rPr lang="en-US" sz="4900" dirty="0"/>
              <a:t>Generate Report: Creates a text file showing each account’s final balance and full transaction history.</a:t>
            </a:r>
          </a:p>
          <a:p>
            <a:pPr marL="342900" indent="-342900">
              <a:buFont typeface="Corbel" panose="020B0503020204020204" pitchFamily="34" charset="0"/>
              <a:buAutoNum type="arabicPeriod"/>
            </a:pPr>
            <a:r>
              <a:rPr lang="en-US" sz="4900" dirty="0"/>
              <a:t>Optional Auto-Open: Opens the report automatically if supported by the system.</a:t>
            </a:r>
          </a:p>
          <a:p>
            <a:pPr marL="342900" indent="-342900">
              <a:buAutoNum type="arabicPeriod"/>
            </a:pPr>
            <a:endParaRPr lang="en-US" dirty="0"/>
          </a:p>
        </p:txBody>
      </p:sp>
      <p:sp>
        <p:nvSpPr>
          <p:cNvPr id="3087" name="Rectangle 3086">
            <a:extLst>
              <a:ext uri="{FF2B5EF4-FFF2-40B4-BE49-F238E27FC236}">
                <a16:creationId xmlns:a16="http://schemas.microsoft.com/office/drawing/2014/main" id="{DB791336-FCAA-4174-9303-B3F3748611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049" y="6167615"/>
            <a:ext cx="12192001" cy="69038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9" name="Rectangle 3088">
            <a:extLst>
              <a:ext uri="{FF2B5EF4-FFF2-40B4-BE49-F238E27FC236}">
                <a16:creationId xmlns:a16="http://schemas.microsoft.com/office/drawing/2014/main" id="{CA212158-300D-44D0-9CCE-472C3F669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6109423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91" name="Rectangle 3090">
            <a:extLst>
              <a:ext uri="{FF2B5EF4-FFF2-40B4-BE49-F238E27FC236}">
                <a16:creationId xmlns:a16="http://schemas.microsoft.com/office/drawing/2014/main" id="{988521F4-D44A-42C5-9BDB-5CA255540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4070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0228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5" name="Rectangle 4104">
            <a:extLst>
              <a:ext uri="{FF2B5EF4-FFF2-40B4-BE49-F238E27FC236}">
                <a16:creationId xmlns:a16="http://schemas.microsoft.com/office/drawing/2014/main" id="{099405E2-1A96-4DBA-A9DC-4C2A1B421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07" name="Rectangle 4106">
            <a:extLst>
              <a:ext uri="{FF2B5EF4-FFF2-40B4-BE49-F238E27FC236}">
                <a16:creationId xmlns:a16="http://schemas.microsoft.com/office/drawing/2014/main" id="{BCF4857D-F003-4CA1-82AB-00900B100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4426072" cy="18040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00" name="Picture 4" descr="Image Transparent Background - Problems Vector Png Clipart - Large Size Png  Image - PikPng">
            <a:extLst>
              <a:ext uri="{FF2B5EF4-FFF2-40B4-BE49-F238E27FC236}">
                <a16:creationId xmlns:a16="http://schemas.microsoft.com/office/drawing/2014/main" id="{67EFD02E-F565-F75F-BFF9-9A9E786AE2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grayscl/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3" b="3157"/>
          <a:stretch>
            <a:fillRect/>
          </a:stretch>
        </p:blipFill>
        <p:spPr bwMode="auto">
          <a:xfrm>
            <a:off x="20" y="1804072"/>
            <a:ext cx="4458058" cy="4349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09" name="Rectangle 4108">
            <a:extLst>
              <a:ext uri="{FF2B5EF4-FFF2-40B4-BE49-F238E27FC236}">
                <a16:creationId xmlns:a16="http://schemas.microsoft.com/office/drawing/2014/main" id="{79855050-A75B-4DD0-9B56-8B1C7722D8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426076" y="0"/>
            <a:ext cx="7765922" cy="616761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331CEB84-49DC-40A9-B2F0-D573658AE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285" y="141092"/>
            <a:ext cx="6754447" cy="1471622"/>
          </a:xfrm>
        </p:spPr>
        <p:txBody>
          <a:bodyPr anchor="b">
            <a:normAutofit/>
          </a:bodyPr>
          <a:lstStyle/>
          <a:p>
            <a:pPr>
              <a:lnSpc>
                <a:spcPct val="140000"/>
              </a:lnSpc>
            </a:pPr>
            <a:r>
              <a:rPr lang="en-US" sz="2800" dirty="0"/>
              <a:t>Challenges Solved: What Problems Did I Face?</a:t>
            </a:r>
          </a:p>
        </p:txBody>
      </p:sp>
      <p:sp>
        <p:nvSpPr>
          <p:cNvPr id="4111" name="Rectangle 4110">
            <a:extLst>
              <a:ext uri="{FF2B5EF4-FFF2-40B4-BE49-F238E27FC236}">
                <a16:creationId xmlns:a16="http://schemas.microsoft.com/office/drawing/2014/main" id="{5E6738EB-6FF0-4AF9-8462-57F4494B88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1753806"/>
            <a:ext cx="4425696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B7886DF7-FA3D-4AD1-AEC1-578EA3AC8C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8548" y="1753806"/>
            <a:ext cx="6754446" cy="3834594"/>
          </a:xfrm>
        </p:spPr>
        <p:txBody>
          <a:bodyPr anchor="t">
            <a:normAutofit fontScale="77500" lnSpcReduction="2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Finding the Input File: At first, I got a FileNotFoundException because bankdata.txt wasn’t in the right place. I solved it by checking the project root and adding an error message to guide the user.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Handling Invalid Transactions: I realized users could try negative deposits, withdrawals over the balance, or invalid transaction codes. I fixed this by logging these issues instead of letting the program crash.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Formatting the Report: I made the transaction report clear and organized, showing each transaction and final balance.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sp>
        <p:nvSpPr>
          <p:cNvPr id="4113" name="Rectangle 4112">
            <a:extLst>
              <a:ext uri="{FF2B5EF4-FFF2-40B4-BE49-F238E27FC236}">
                <a16:creationId xmlns:a16="http://schemas.microsoft.com/office/drawing/2014/main" id="{DB791336-FCAA-4174-9303-B3F3748611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049" y="6167615"/>
            <a:ext cx="12192001" cy="69038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15" name="Rectangle 4114">
            <a:extLst>
              <a:ext uri="{FF2B5EF4-FFF2-40B4-BE49-F238E27FC236}">
                <a16:creationId xmlns:a16="http://schemas.microsoft.com/office/drawing/2014/main" id="{CA212158-300D-44D0-9CCE-472C3F669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6109423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17" name="Rectangle 4116">
            <a:extLst>
              <a:ext uri="{FF2B5EF4-FFF2-40B4-BE49-F238E27FC236}">
                <a16:creationId xmlns:a16="http://schemas.microsoft.com/office/drawing/2014/main" id="{988521F4-D44A-42C5-9BDB-5CA255540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4070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7926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9A145D5-E47C-B95C-181A-DE514C0DA1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78" y="1651043"/>
            <a:ext cx="4201111" cy="3305636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3779B7BE-A84A-AB90-6D6F-854E7DFDB387}"/>
              </a:ext>
            </a:extLst>
          </p:cNvPr>
          <p:cNvSpPr txBox="1"/>
          <p:nvPr/>
        </p:nvSpPr>
        <p:spPr>
          <a:xfrm>
            <a:off x="5111496" y="466344"/>
            <a:ext cx="63342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Example of Input File </a:t>
            </a:r>
            <a:r>
              <a:rPr lang="en-US" sz="2400" b="1" u="sng" dirty="0">
                <a:highlight>
                  <a:srgbClr val="FFFF00"/>
                </a:highlight>
              </a:rPr>
              <a:t>or</a:t>
            </a:r>
            <a:r>
              <a:rPr lang="en-US" sz="2400" b="1" dirty="0">
                <a:highlight>
                  <a:srgbClr val="FFFF00"/>
                </a:highlight>
              </a:rPr>
              <a:t> </a:t>
            </a:r>
            <a:r>
              <a:rPr lang="en-US" sz="2400" b="1" dirty="0"/>
              <a:t>bankdata.txt</a:t>
            </a:r>
            <a:endParaRPr lang="en-US" sz="2400" b="1" u="sng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2FC17F5-6E1B-4B27-CD2C-8DE617950A00}"/>
              </a:ext>
            </a:extLst>
          </p:cNvPr>
          <p:cNvSpPr txBox="1"/>
          <p:nvPr/>
        </p:nvSpPr>
        <p:spPr>
          <a:xfrm>
            <a:off x="5111496" y="1225689"/>
            <a:ext cx="6889726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The first line, which is 3, signals the number of accounts in this file. In this scenario, we have 3 accounts.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The lines after that define each account and its early balance: A100 with $500, A200 with $1200, and A300 with $50.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A100: I deposited $200 into account A100, which increased the balance from $500 to $700. I then withdrew $100 from A100, reducing the balance to $600.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A200: I tried to withdraw $1500 from A200, but the account only had $1200, so the withdrawal was denied to prevent an overdraft. I then decided to deposit $300 into A200, and this time it worked, increasing the balance to $1500.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A300: I tried to deposit a negative amount (-20) into A300, which is invalid, so the transaction was ignored. I then withdrew $25 from A300, leaving a new balance of $25.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91809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0786F82F-1B47-46ED-8EAE-53EF71E59E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18302" y="0"/>
            <a:ext cx="7473698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F1BAF6F-6275-4646-9C59-331B29B955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257298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099405E2-1A96-4DBA-A9DC-4C2A1B421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32FF329-3A87-4F66-BA01-91CD63C81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0"/>
            <a:ext cx="4420926" cy="68381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AFE80C87-97FD-8B01-6DE3-CEEA24B1233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7669" b="2"/>
          <a:stretch>
            <a:fillRect/>
          </a:stretch>
        </p:blipFill>
        <p:spPr>
          <a:xfrm>
            <a:off x="99656" y="826972"/>
            <a:ext cx="4092415" cy="4947622"/>
          </a:xfrm>
          <a:prstGeom prst="rect">
            <a:avLst/>
          </a:prstGeom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BCF4857D-F003-4CA1-82AB-00900B100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146359"/>
            <a:ext cx="4426072" cy="71164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9855050-A75B-4DD0-9B56-8B1C7722D8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426076" y="748578"/>
            <a:ext cx="7765922" cy="5419038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0814B6A3-5F3E-4909-8ED5-87FE8249226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946526" y="751751"/>
            <a:ext cx="6627226" cy="1154102"/>
          </a:xfrm>
        </p:spPr>
        <p:txBody>
          <a:bodyPr vert="horz" lIns="109728" tIns="109728" rIns="109728" bIns="91440" rtlCol="0" anchor="ctr">
            <a:normAutofit fontScale="90000"/>
          </a:bodyPr>
          <a:lstStyle/>
          <a:p>
            <a:r>
              <a:rPr lang="en-US" dirty="0"/>
              <a:t>Example of Output Report (TransactionReport.txt) 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E6738EB-6FF0-4AF9-8462-57F4494B88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687743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C94F61A-46C1-B831-7EC4-687DF1C757C5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4797790" y="2124198"/>
            <a:ext cx="7022493" cy="3610936"/>
          </a:xfrm>
        </p:spPr>
        <p:txBody>
          <a:bodyPr vert="horz" lIns="109728" tIns="109728" rIns="109728" bIns="91440" rtlCol="0" anchor="t">
            <a:normAutofit fontScale="925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When I ran the program in IntelliJ, it automatically generated this report and opened it in Notepad.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Each account shows its final balance and a full transaction history, including invalid deposits or denied withdrawals.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helps make the results easy to read without having to scramble through the console.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B791336-FCAA-4174-9303-B3F3748611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394069" y="6167615"/>
            <a:ext cx="7794882" cy="69038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A212158-300D-44D0-9CCE-472C3F669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6109423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88521F4-D44A-42C5-9BDB-5CA255540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4070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5493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4EE865D-5A59-4DD1-A94D-A8DBE4A9E0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D8A74655-96EA-F0FC-76C1-916AC780F12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2567" b="1"/>
          <a:stretch>
            <a:fillRect/>
          </a:stretch>
        </p:blipFill>
        <p:spPr>
          <a:xfrm>
            <a:off x="642917" y="655847"/>
            <a:ext cx="5423515" cy="5549462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F465BEC9-9A64-4330-A094-2323D0EE1E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7891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70D273FB-F447-22D2-DBF4-F2864983C58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6876" b="1"/>
          <a:stretch>
            <a:fillRect/>
          </a:stretch>
        </p:blipFill>
        <p:spPr>
          <a:xfrm>
            <a:off x="6062451" y="643467"/>
            <a:ext cx="5486632" cy="5571066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4B1DA58A-A755-4FCE-9BED-1E4AD6C955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611461"/>
            <a:ext cx="1218895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E23EFB5-5855-497F-AC57-6C194148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6184551"/>
            <a:ext cx="1218895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5E58471-8841-45B5-AA23-19266CEC26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311652" y="3374165"/>
            <a:ext cx="5568696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414EFBA-DEC5-4782-9B45-CEF1661DB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121586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A5C35A-70D1-F5B3-DA18-FFAC40623544}"/>
              </a:ext>
            </a:extLst>
          </p:cNvPr>
          <p:cNvSpPr txBox="1"/>
          <p:nvPr/>
        </p:nvSpPr>
        <p:spPr>
          <a:xfrm>
            <a:off x="1737360" y="-9224"/>
            <a:ext cx="90913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Photo Gallery of IntelliJ Console </a:t>
            </a:r>
          </a:p>
        </p:txBody>
      </p:sp>
    </p:spTree>
    <p:extLst>
      <p:ext uri="{BB962C8B-B14F-4D97-AF65-F5344CB8AC3E}">
        <p14:creationId xmlns:p14="http://schemas.microsoft.com/office/powerpoint/2010/main" val="2297168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99405E2-1A96-4DBA-A9DC-4C2A1B421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CF4857D-F003-4CA1-82AB-00900B100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4426072" cy="18040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Computer script on a screen">
            <a:extLst>
              <a:ext uri="{FF2B5EF4-FFF2-40B4-BE49-F238E27FC236}">
                <a16:creationId xmlns:a16="http://schemas.microsoft.com/office/drawing/2014/main" id="{279718ED-6A3F-F043-9DFC-3BFAF0B2EF0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1587" b="-2"/>
          <a:stretch>
            <a:fillRect/>
          </a:stretch>
        </p:blipFill>
        <p:spPr>
          <a:xfrm>
            <a:off x="20" y="1804072"/>
            <a:ext cx="4458058" cy="4349801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79855050-A75B-4DD0-9B56-8B1C7722D8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426076" y="0"/>
            <a:ext cx="7765922" cy="616761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1448DAE-E961-723F-9AAF-E9D20F689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6291" y="-5816"/>
            <a:ext cx="6754447" cy="1471622"/>
          </a:xfrm>
        </p:spPr>
        <p:txBody>
          <a:bodyPr vert="horz" lIns="109728" tIns="109728" rIns="109728" bIns="91440" rtlCol="0" anchor="b">
            <a:normAutofit/>
          </a:bodyPr>
          <a:lstStyle/>
          <a:p>
            <a:pPr>
              <a:lnSpc>
                <a:spcPct val="140000"/>
              </a:lnSpc>
            </a:pPr>
            <a:r>
              <a:rPr lang="en-US" sz="2800" dirty="0"/>
              <a:t>What is the Console Showing?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E6738EB-6FF0-4AF9-8462-57F4494B88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1753806"/>
            <a:ext cx="4425696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527500D-E117-4377-97F1-DFD1002C30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2110" y="1479548"/>
            <a:ext cx="7509890" cy="4480022"/>
          </a:xfrm>
        </p:spPr>
        <p:txBody>
          <a:bodyPr vert="horz" lIns="109728" tIns="109728" rIns="109728" bIns="91440" rtlCol="0" anchor="t">
            <a:normAutofit fontScale="25000" lnSpcReduction="2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6000" dirty="0"/>
              <a:t>That was the main Java code that controls how the bank ledger program works.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6000" dirty="0"/>
              <a:t>First, it checks whether bankdata.txt exists so the program doesn’t crash if the file is missing. Then, it uses the </a:t>
            </a:r>
            <a:r>
              <a:rPr lang="en-US" sz="6000" dirty="0" err="1"/>
              <a:t>loadAccounts</a:t>
            </a:r>
            <a:r>
              <a:rPr lang="en-US" sz="6000" dirty="0"/>
              <a:t>() method to read each account’s starting balance from the file. After that, the </a:t>
            </a:r>
            <a:r>
              <a:rPr lang="en-US" sz="6000" dirty="0" err="1"/>
              <a:t>processTransactions</a:t>
            </a:r>
            <a:r>
              <a:rPr lang="en-US" sz="6000" dirty="0"/>
              <a:t>() method goes through every deposit or withdrawal and updates each account correctly, including invalid or denied transactions.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6000" dirty="0"/>
              <a:t>The program then calls </a:t>
            </a:r>
            <a:r>
              <a:rPr lang="en-US" sz="6000" dirty="0" err="1"/>
              <a:t>writeReport</a:t>
            </a:r>
            <a:r>
              <a:rPr lang="en-US" sz="6000" dirty="0"/>
              <a:t>() to create TransactionReport.txt, which includes every account’s final balance and full transaction history.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6000" dirty="0"/>
              <a:t>Finally, the code tells Windows to automatically open the finished report in Notepad, so the results appear instantly after the program runs.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B791336-FCAA-4174-9303-B3F3748611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049" y="6167615"/>
            <a:ext cx="12192001" cy="69038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A212158-300D-44D0-9CCE-472C3F669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6109423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88521F4-D44A-42C5-9BDB-5CA255540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4070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3837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201" name="Rectangle 8200">
            <a:extLst>
              <a:ext uri="{FF2B5EF4-FFF2-40B4-BE49-F238E27FC236}">
                <a16:creationId xmlns:a16="http://schemas.microsoft.com/office/drawing/2014/main" id="{099405E2-1A96-4DBA-A9DC-4C2A1B421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03" name="Rectangle 8202">
            <a:extLst>
              <a:ext uri="{FF2B5EF4-FFF2-40B4-BE49-F238E27FC236}">
                <a16:creationId xmlns:a16="http://schemas.microsoft.com/office/drawing/2014/main" id="{BCF4857D-F003-4CA1-82AB-00900B100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4426072" cy="18040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196" name="Picture 4" descr="Conclusion - Free files and folders icons">
            <a:extLst>
              <a:ext uri="{FF2B5EF4-FFF2-40B4-BE49-F238E27FC236}">
                <a16:creationId xmlns:a16="http://schemas.microsoft.com/office/drawing/2014/main" id="{8BD303EA-355F-18BD-C61B-BE17F1330A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" b="2427"/>
          <a:stretch>
            <a:fillRect/>
          </a:stretch>
        </p:blipFill>
        <p:spPr bwMode="auto">
          <a:xfrm>
            <a:off x="20" y="1804072"/>
            <a:ext cx="4458058" cy="4349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205" name="Rectangle 8204">
            <a:extLst>
              <a:ext uri="{FF2B5EF4-FFF2-40B4-BE49-F238E27FC236}">
                <a16:creationId xmlns:a16="http://schemas.microsoft.com/office/drawing/2014/main" id="{79855050-A75B-4DD0-9B56-8B1C7722D8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426076" y="0"/>
            <a:ext cx="7765922" cy="616761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61130C-7B97-FF1F-794C-9E1FC0145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6603" y="-12295"/>
            <a:ext cx="6754447" cy="1471622"/>
          </a:xfrm>
        </p:spPr>
        <p:txBody>
          <a:bodyPr anchor="b">
            <a:normAutofit/>
          </a:bodyPr>
          <a:lstStyle/>
          <a:p>
            <a:r>
              <a:rPr lang="en-US" dirty="0"/>
              <a:t>Conclusion</a:t>
            </a:r>
          </a:p>
        </p:txBody>
      </p:sp>
      <p:sp>
        <p:nvSpPr>
          <p:cNvPr id="8207" name="Rectangle 8206">
            <a:extLst>
              <a:ext uri="{FF2B5EF4-FFF2-40B4-BE49-F238E27FC236}">
                <a16:creationId xmlns:a16="http://schemas.microsoft.com/office/drawing/2014/main" id="{5E6738EB-6FF0-4AF9-8462-57F4494B88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1753806"/>
            <a:ext cx="4425696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152083-4489-1368-8E8E-40CE127553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6619" y="1529814"/>
            <a:ext cx="7110854" cy="4714104"/>
          </a:xfrm>
        </p:spPr>
        <p:txBody>
          <a:bodyPr anchor="t">
            <a:normAutofit fontScale="77500" lnSpcReduction="2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100" dirty="0"/>
              <a:t>Overall, this project made it easier for me to figure out how each aspect of the program functions. From reading input to updating balances, I saw how small pieces of logic create a full, working system.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100" dirty="0"/>
              <a:t>I learned the most from the debugging process. I had to slow down, test thoroughly, and determine exactly what the program was doing whenever something didn't behave as I had anticipated.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100" dirty="0"/>
              <a:t>Ultimately, the project increased my optimism in using the ideas we did in class. Running the program and seeing real-time results made everything feel more connected and understandable.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8209" name="Rectangle 8208">
            <a:extLst>
              <a:ext uri="{FF2B5EF4-FFF2-40B4-BE49-F238E27FC236}">
                <a16:creationId xmlns:a16="http://schemas.microsoft.com/office/drawing/2014/main" id="{DB791336-FCAA-4174-9303-B3F3748611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049" y="6167615"/>
            <a:ext cx="12192001" cy="69038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11" name="Rectangle 8210">
            <a:extLst>
              <a:ext uri="{FF2B5EF4-FFF2-40B4-BE49-F238E27FC236}">
                <a16:creationId xmlns:a16="http://schemas.microsoft.com/office/drawing/2014/main" id="{CA212158-300D-44D0-9CCE-472C3F669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6109423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13" name="Rectangle 8212">
            <a:extLst>
              <a:ext uri="{FF2B5EF4-FFF2-40B4-BE49-F238E27FC236}">
                <a16:creationId xmlns:a16="http://schemas.microsoft.com/office/drawing/2014/main" id="{988521F4-D44A-42C5-9BDB-5CA255540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4070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400595"/>
      </p:ext>
    </p:extLst>
  </p:cSld>
  <p:clrMapOvr>
    <a:masterClrMapping/>
  </p:clrMapOvr>
</p:sld>
</file>

<file path=ppt/theme/theme1.xml><?xml version="1.0" encoding="utf-8"?>
<a:theme xmlns:a="http://schemas.openxmlformats.org/drawingml/2006/main" name="ShojiVTI">
  <a:themeElements>
    <a:clrScheme name="Shoji">
      <a:dk1>
        <a:sysClr val="windowText" lastClr="000000"/>
      </a:dk1>
      <a:lt1>
        <a:sysClr val="window" lastClr="FFFFFF"/>
      </a:lt1>
      <a:dk2>
        <a:srgbClr val="595460"/>
      </a:dk2>
      <a:lt2>
        <a:srgbClr val="EBEDEB"/>
      </a:lt2>
      <a:accent1>
        <a:srgbClr val="97A7B8"/>
      </a:accent1>
      <a:accent2>
        <a:srgbClr val="A5B592"/>
      </a:accent2>
      <a:accent3>
        <a:srgbClr val="CED228"/>
      </a:accent3>
      <a:accent4>
        <a:srgbClr val="D1C499"/>
      </a:accent4>
      <a:accent5>
        <a:srgbClr val="BDB3B6"/>
      </a:accent5>
      <a:accent6>
        <a:srgbClr val="C5A98D"/>
      </a:accent6>
      <a:hlink>
        <a:srgbClr val="CC9900"/>
      </a:hlink>
      <a:folHlink>
        <a:srgbClr val="96A9A9"/>
      </a:folHlink>
    </a:clrScheme>
    <a:fontScheme name="Custom 7">
      <a:majorFont>
        <a:latin typeface="Meiryo"/>
        <a:ea typeface=""/>
        <a:cs typeface=""/>
      </a:majorFont>
      <a:minorFont>
        <a:latin typeface="Meiryo"/>
        <a:ea typeface=""/>
        <a:cs typeface=""/>
      </a:minorFont>
    </a:fontScheme>
    <a:fmtScheme name="Feathered">
      <a:fillStyleLst>
        <a:solidFill>
          <a:schemeClr val="phClr"/>
        </a:solidFill>
        <a:solidFill>
          <a:schemeClr val="phClr">
            <a:tint val="67000"/>
            <a:satMod val="105000"/>
          </a:schemeClr>
        </a:soli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>
              <a:tint val="50000"/>
              <a:shade val="83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25400" dir="5400000" algn="ctr" rotWithShape="0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hojiVTI" id="{00D0DDEB-E771-48E5-9E96-0647434F08B1}" vid="{9D22D596-7FD0-4F89-958C-AD79A09491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F36CB81-A037-44A8-88EB-C0C0F17FD4B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7FF477C-132F-44F8-8C56-EBFF95FAF97B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2C1AA24C-4CA6-40FF-8947-DA1F6F4745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{8F0C8A67-6393-4299-9433-542D74D06276}TF2b9189fa-8f70-44c5-a025-8c7b018ae2a95a18b6f7_win32-f1ac09ee8c52</Template>
  <TotalTime>142</TotalTime>
  <Words>780</Words>
  <Application>Microsoft Office PowerPoint</Application>
  <PresentationFormat>Widescreen</PresentationFormat>
  <Paragraphs>41</Paragraphs>
  <Slides>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Meiryo</vt:lpstr>
      <vt:lpstr>Arial</vt:lpstr>
      <vt:lpstr>Calibri</vt:lpstr>
      <vt:lpstr>Corbel</vt:lpstr>
      <vt:lpstr>ShojiVTI</vt:lpstr>
      <vt:lpstr>Bank Account Ledger</vt:lpstr>
      <vt:lpstr>So, what is a Bank Ledger? What does it include? </vt:lpstr>
      <vt:lpstr>Alright, so how does this program work?</vt:lpstr>
      <vt:lpstr>Challenges Solved: What Problems Did I Face?</vt:lpstr>
      <vt:lpstr>PowerPoint Presentation</vt:lpstr>
      <vt:lpstr>Example of Output Report (TransactionReport.txt) </vt:lpstr>
      <vt:lpstr>PowerPoint Presentation</vt:lpstr>
      <vt:lpstr>What is the Console Showing?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Rahkim Coleman</dc:creator>
  <cp:lastModifiedBy>Rahkim Coleman</cp:lastModifiedBy>
  <cp:revision>1</cp:revision>
  <dcterms:created xsi:type="dcterms:W3CDTF">2025-12-09T05:01:38Z</dcterms:created>
  <dcterms:modified xsi:type="dcterms:W3CDTF">2025-12-09T07:24:36Z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